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0" y="0"/>
            <a:ext cx="4314825" cy="2514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F8F9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VERA: Radically Enhancing LLM Outcomes Through Segmented Neuro-Symbolic Routing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4114800" y="2685994"/>
            <a:ext cx="3883326" cy="960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704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Hybrid API Layer That Eliminates Hallucinations, Logical Errors, and Reasoning Failures</a:t>
            </a:r>
            <a:endParaRPr lang="en-US" sz="1704" dirty="0"/>
          </a:p>
        </p:txBody>
      </p:sp>
      <p:sp>
        <p:nvSpPr>
          <p:cNvPr id="5" name="Text 2"/>
          <p:cNvSpPr/>
          <p:nvPr/>
        </p:nvSpPr>
        <p:spPr>
          <a:xfrm>
            <a:off x="4114800" y="4074672"/>
            <a:ext cx="43148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Dr. Rami Shaheen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4114800" y="4303272"/>
            <a:ext cx="43148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March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366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571500"/>
            <a:ext cx="7715250" cy="822927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8F9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LLMs Fail Catastrophically on Multi-Step Reasoning—Even the Best Models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714375" y="1823052"/>
            <a:ext cx="42433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Large Language Models are fundamentally </a:t>
            </a:r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token-prediction </a:t>
            </a:r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engines, not reasoning engines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This architectural limitation 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creates four interconnected failure modes: hallucinations, 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logical errors, multi-step reasoning failures, and edge case 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brittleness.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714375" y="3137502"/>
            <a:ext cx="42433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just five sequential reasoning steps, the best LLMs drop to a 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44% success rate due to error accumulation. At ten steps, 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they become practically unusable. This is not a training data 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or a prompt engineering problem—it is a </a:t>
            </a:r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fundamental </a:t>
            </a:r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architectural limitation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14375" y="4451952"/>
            <a:ext cx="42433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high-stakes domains like defense, finance, and healthcare, this unreliability is unacceptable. Standard mitigation approaches are insufficient because they do not enforce strict deterministic verification during generation.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029325" y="2028434"/>
            <a:ext cx="24003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D9042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85%</a:t>
            </a:r>
            <a:endParaRPr lang="en-US" sz="3294" dirty="0"/>
          </a:p>
        </p:txBody>
      </p:sp>
      <p:sp>
        <p:nvSpPr>
          <p:cNvPr id="8" name="Text 5"/>
          <p:cNvSpPr/>
          <p:nvPr/>
        </p:nvSpPr>
        <p:spPr>
          <a:xfrm>
            <a:off x="6029325" y="2542784"/>
            <a:ext cx="240030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1-Step Reasoning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6029325" y="2744595"/>
            <a:ext cx="24003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 success rate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6029325" y="3167862"/>
            <a:ext cx="24003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D9042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44%</a:t>
            </a:r>
            <a:endParaRPr lang="en-US" sz="3294" dirty="0"/>
          </a:p>
        </p:txBody>
      </p:sp>
      <p:sp>
        <p:nvSpPr>
          <p:cNvPr id="11" name="Text 8"/>
          <p:cNvSpPr/>
          <p:nvPr/>
        </p:nvSpPr>
        <p:spPr>
          <a:xfrm>
            <a:off x="6029325" y="3682212"/>
            <a:ext cx="240030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5-Step Reasoning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6029325" y="3884023"/>
            <a:ext cx="24003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Exponential decay begins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6029325" y="4307291"/>
            <a:ext cx="24003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D9042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19%</a:t>
            </a:r>
            <a:endParaRPr lang="en-US" sz="3294" dirty="0"/>
          </a:p>
        </p:txBody>
      </p:sp>
      <p:sp>
        <p:nvSpPr>
          <p:cNvPr id="14" name="Text 11"/>
          <p:cNvSpPr/>
          <p:nvPr/>
        </p:nvSpPr>
        <p:spPr>
          <a:xfrm>
            <a:off x="6029325" y="4821641"/>
            <a:ext cx="240030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10-Step Reasoning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6029325" y="5023452"/>
            <a:ext cx="24003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Practically unusable</a:t>
            </a:r>
            <a:endParaRPr lang="en-US" sz="83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39771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571500"/>
            <a:ext cx="6429375" cy="822927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8F9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Existing Mitigation Strategies Leave the Core Problem Unsolved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714375" y="1873058"/>
            <a:ext cx="364331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8F9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Retrieval-Augmented Generation (RAG)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714375" y="2187383"/>
            <a:ext cx="364331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Provides context but does not enforce correctness. The LLM can still misinterpret retrieved facts or ignore them entirely.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4786313" y="1873058"/>
            <a:ext cx="364331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8F9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Neurosymbolic AI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4786313" y="2187383"/>
            <a:ext cx="364331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Requires manual specification of formal rules, making it difficult to scale and impractical for general-purpose applications.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714375" y="3173220"/>
            <a:ext cx="364331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8F9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Post-Hoc Verification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714375" y="3487545"/>
            <a:ext cx="364331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Catches errors too late. By the time verification occurs, errors have already been synthesized into natural language.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4786313" y="3173220"/>
            <a:ext cx="364331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8F9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Prompt Engineering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4786313" y="3487545"/>
            <a:ext cx="364331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Attempts to coerce better reasoning through clever wording, but is fundamentally limited by the model's token-prediction architecture.</a:t>
            </a:r>
            <a:endParaRPr lang="en-US" sz="942" dirty="0"/>
          </a:p>
        </p:txBody>
      </p:sp>
      <p:sp>
        <p:nvSpPr>
          <p:cNvPr id="12" name="Shape 9"/>
          <p:cNvSpPr/>
          <p:nvPr/>
        </p:nvSpPr>
        <p:spPr>
          <a:xfrm>
            <a:off x="2257425" y="4351939"/>
            <a:ext cx="6172200" cy="1002916"/>
          </a:xfrm>
          <a:prstGeom prst="rect">
            <a:avLst/>
          </a:prstGeom>
          <a:solidFill>
            <a:srgbClr val="D90429">
              <a:alpha val="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2257425" y="4351939"/>
            <a:ext cx="57150" cy="1002916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4" name="Text 11"/>
          <p:cNvSpPr/>
          <p:nvPr/>
        </p:nvSpPr>
        <p:spPr>
          <a:xfrm>
            <a:off x="2486025" y="4523389"/>
            <a:ext cx="5715000" cy="660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approach addresses symptoms, not the root cause. We need a </a:t>
            </a:r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that </a:t>
            </a:r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D904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prevents errors from being generated in the first place</a:t>
            </a:r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not </a:t>
            </a:r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that catches them afterward.</a:t>
            </a:r>
            <a:endParaRPr lang="en-US" sz="109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571500"/>
            <a:ext cx="4729163" cy="1645853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8F9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VERA Decouples Neural and Symbolic Processing, Routing Tasks to Optimal Engines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714375" y="2388803"/>
            <a:ext cx="472916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VERA is a hybrid neuro-symbolic API layer that sits between the user 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any LLM. Instead of forcing the LLM to do everything, VERA 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intercepts the prompt and intelligently segments it into a </a:t>
            </a:r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Directed </a:t>
            </a:r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Acyclic Graph (DAG)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atomic tasks.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714375" y="3388928"/>
            <a:ext cx="47291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task is routed to the engine best suited for it. An arbitration layer synthesizes the verified outputs and prevents errors from reaching users.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14375" y="4407694"/>
            <a:ext cx="4729163" cy="564356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D904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not a wrapper that patches LLM outputs—it is a fundamental reimagining of how LLMs should be deployed.</a:t>
            </a:r>
            <a:endParaRPr lang="en-US" sz="1090" dirty="0"/>
          </a:p>
        </p:txBody>
      </p:sp>
      <p:sp>
        <p:nvSpPr>
          <p:cNvPr id="7" name="Shape 4"/>
          <p:cNvSpPr/>
          <p:nvPr/>
        </p:nvSpPr>
        <p:spPr>
          <a:xfrm>
            <a:off x="5729288" y="571500"/>
            <a:ext cx="2700338" cy="44005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729288" y="571500"/>
            <a:ext cx="14288" cy="4400550"/>
          </a:xfrm>
          <a:prstGeom prst="rect">
            <a:avLst/>
          </a:prstGeom>
          <a:solidFill>
            <a:srgbClr val="DDE0E7"/>
          </a:solidFill>
          <a:ln/>
        </p:spPr>
      </p:sp>
      <p:sp>
        <p:nvSpPr>
          <p:cNvPr id="9" name="Shape 6"/>
          <p:cNvSpPr/>
          <p:nvPr/>
        </p:nvSpPr>
        <p:spPr>
          <a:xfrm>
            <a:off x="5600700" y="685800"/>
            <a:ext cx="171450" cy="14288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0" name="Text 7"/>
          <p:cNvSpPr/>
          <p:nvPr/>
        </p:nvSpPr>
        <p:spPr>
          <a:xfrm>
            <a:off x="5900738" y="571500"/>
            <a:ext cx="1453753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MATHEMATICAL &amp; LOGICAL OPERATIONS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5900738" y="875109"/>
            <a:ext cx="1453753" cy="910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8F9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Deterministic Code Sandbox</a:t>
            </a:r>
            <a:endParaRPr lang="en-US" sz="1602" dirty="0"/>
          </a:p>
        </p:txBody>
      </p:sp>
      <p:sp>
        <p:nvSpPr>
          <p:cNvPr id="12" name="Text 9"/>
          <p:cNvSpPr/>
          <p:nvPr/>
        </p:nvSpPr>
        <p:spPr>
          <a:xfrm>
            <a:off x="5900738" y="1814513"/>
            <a:ext cx="1453753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Executed deterministically to guarantee 100% accuracy.</a:t>
            </a:r>
            <a:endParaRPr lang="en-US" sz="942" dirty="0"/>
          </a:p>
        </p:txBody>
      </p:sp>
      <p:sp>
        <p:nvSpPr>
          <p:cNvPr id="13" name="Shape 10"/>
          <p:cNvSpPr/>
          <p:nvPr/>
        </p:nvSpPr>
        <p:spPr>
          <a:xfrm>
            <a:off x="7283053" y="685800"/>
            <a:ext cx="171450" cy="14288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4" name="Text 11"/>
          <p:cNvSpPr/>
          <p:nvPr/>
        </p:nvSpPr>
        <p:spPr>
          <a:xfrm>
            <a:off x="7583091" y="571500"/>
            <a:ext cx="835819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FACTUAL QUERIES</a:t>
            </a:r>
            <a:endParaRPr lang="en-US" sz="784" dirty="0"/>
          </a:p>
        </p:txBody>
      </p:sp>
      <p:sp>
        <p:nvSpPr>
          <p:cNvPr id="15" name="Text 12"/>
          <p:cNvSpPr/>
          <p:nvPr/>
        </p:nvSpPr>
        <p:spPr>
          <a:xfrm>
            <a:off x="7583091" y="875109"/>
            <a:ext cx="835819" cy="910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8F9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Verified RAG Engine</a:t>
            </a:r>
            <a:endParaRPr lang="en-US" sz="1602" dirty="0"/>
          </a:p>
        </p:txBody>
      </p:sp>
      <p:sp>
        <p:nvSpPr>
          <p:cNvPr id="16" name="Text 13"/>
          <p:cNvSpPr/>
          <p:nvPr/>
        </p:nvSpPr>
        <p:spPr>
          <a:xfrm>
            <a:off x="7583091" y="1814513"/>
            <a:ext cx="835819" cy="1440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Resolved through verified retrieval-augmented generation to ground in truth.</a:t>
            </a:r>
            <a:endParaRPr lang="en-US" sz="942" dirty="0"/>
          </a:p>
        </p:txBody>
      </p:sp>
      <p:sp>
        <p:nvSpPr>
          <p:cNvPr id="17" name="Shape 14"/>
          <p:cNvSpPr/>
          <p:nvPr/>
        </p:nvSpPr>
        <p:spPr>
          <a:xfrm>
            <a:off x="5600700" y="3540398"/>
            <a:ext cx="171450" cy="14288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8" name="Text 15"/>
          <p:cNvSpPr/>
          <p:nvPr/>
        </p:nvSpPr>
        <p:spPr>
          <a:xfrm>
            <a:off x="5900738" y="3426098"/>
            <a:ext cx="145375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SEMANTIC SYNTHESIS</a:t>
            </a:r>
            <a:endParaRPr lang="en-US" sz="784" dirty="0"/>
          </a:p>
        </p:txBody>
      </p:sp>
      <p:sp>
        <p:nvSpPr>
          <p:cNvPr id="19" name="Text 16"/>
          <p:cNvSpPr/>
          <p:nvPr/>
        </p:nvSpPr>
        <p:spPr>
          <a:xfrm>
            <a:off x="5900738" y="3592190"/>
            <a:ext cx="1453753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8F9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Core LLM</a:t>
            </a:r>
            <a:endParaRPr lang="en-US" sz="1602" dirty="0"/>
          </a:p>
        </p:txBody>
      </p:sp>
      <p:sp>
        <p:nvSpPr>
          <p:cNvPr id="20" name="Text 17"/>
          <p:cNvSpPr/>
          <p:nvPr/>
        </p:nvSpPr>
        <p:spPr>
          <a:xfrm>
            <a:off x="5900738" y="3924374"/>
            <a:ext cx="1453753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Delegated to the neural network where it excels at natural language generation.</a:t>
            </a:r>
            <a:endParaRPr lang="en-US" sz="94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571500"/>
            <a:ext cx="7143750" cy="72006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8F9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Segmentation, Routing, Execution, and Arbitration Work Together to Eliminate Errors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714375" y="1720193"/>
            <a:ext cx="1757363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731" b="1" dirty="0">
                <a:solidFill>
                  <a:srgbClr val="D90429">
                    <a:alpha val="15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3731" dirty="0"/>
          </a:p>
        </p:txBody>
      </p:sp>
      <p:sp>
        <p:nvSpPr>
          <p:cNvPr id="5" name="Text 2"/>
          <p:cNvSpPr/>
          <p:nvPr/>
        </p:nvSpPr>
        <p:spPr>
          <a:xfrm>
            <a:off x="714375" y="2263118"/>
            <a:ext cx="175736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Segmenter Module</a:t>
            </a:r>
            <a:endParaRPr lang="en-US" sz="1090" dirty="0"/>
          </a:p>
        </p:txBody>
      </p:sp>
      <p:sp>
        <p:nvSpPr>
          <p:cNvPr id="6" name="Text 3"/>
          <p:cNvSpPr/>
          <p:nvPr/>
        </p:nvSpPr>
        <p:spPr>
          <a:xfrm>
            <a:off x="714375" y="2538152"/>
            <a:ext cx="1757363" cy="1097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Parses natural language prompts into discrete, atomic tasks with dependencies. Example: "Calculate interest, then email" becomes Math + Semantic tasks.</a:t>
            </a:r>
            <a:endParaRPr lang="en-US" sz="834" dirty="0"/>
          </a:p>
        </p:txBody>
      </p:sp>
      <p:sp>
        <p:nvSpPr>
          <p:cNvPr id="7" name="Text 4"/>
          <p:cNvSpPr/>
          <p:nvPr/>
        </p:nvSpPr>
        <p:spPr>
          <a:xfrm>
            <a:off x="2700338" y="1720193"/>
            <a:ext cx="1757363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731" b="1" dirty="0">
                <a:solidFill>
                  <a:srgbClr val="D90429">
                    <a:alpha val="15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3731" dirty="0"/>
          </a:p>
        </p:txBody>
      </p:sp>
      <p:sp>
        <p:nvSpPr>
          <p:cNvPr id="8" name="Text 5"/>
          <p:cNvSpPr/>
          <p:nvPr/>
        </p:nvSpPr>
        <p:spPr>
          <a:xfrm>
            <a:off x="2700338" y="2263118"/>
            <a:ext cx="175736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Router Module</a:t>
            </a:r>
            <a:endParaRPr lang="en-US" sz="1090" dirty="0"/>
          </a:p>
        </p:txBody>
      </p:sp>
      <p:sp>
        <p:nvSpPr>
          <p:cNvPr id="9" name="Text 6"/>
          <p:cNvSpPr/>
          <p:nvPr/>
        </p:nvSpPr>
        <p:spPr>
          <a:xfrm>
            <a:off x="2700338" y="2538152"/>
            <a:ext cx="1757363" cy="914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Classifies each task and directs it to the appropriate engine. Math tasks go to Sandbox, Fact tasks to RAG, and Semantic tasks to the core LLM.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4686300" y="1720193"/>
            <a:ext cx="1757363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731" b="1" dirty="0">
                <a:solidFill>
                  <a:srgbClr val="D90429">
                    <a:alpha val="15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3731" dirty="0"/>
          </a:p>
        </p:txBody>
      </p:sp>
      <p:sp>
        <p:nvSpPr>
          <p:cNvPr id="11" name="Text 8"/>
          <p:cNvSpPr/>
          <p:nvPr/>
        </p:nvSpPr>
        <p:spPr>
          <a:xfrm>
            <a:off x="4686300" y="2263118"/>
            <a:ext cx="175736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Execution Engines</a:t>
            </a:r>
            <a:endParaRPr lang="en-US" sz="1090" dirty="0"/>
          </a:p>
        </p:txBody>
      </p:sp>
      <p:sp>
        <p:nvSpPr>
          <p:cNvPr id="12" name="Text 9"/>
          <p:cNvSpPr/>
          <p:nvPr/>
        </p:nvSpPr>
        <p:spPr>
          <a:xfrm>
            <a:off x="4686300" y="2538152"/>
            <a:ext cx="1757363" cy="914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 their specialized functions with high accuracy. The Deterministic Sandbox, RAG Engine, and Core LLM process their respective tasks.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6672263" y="1720193"/>
            <a:ext cx="1757363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731" b="1" dirty="0">
                <a:solidFill>
                  <a:srgbClr val="D90429">
                    <a:alpha val="15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04</a:t>
            </a:r>
            <a:endParaRPr lang="en-US" sz="3731" dirty="0"/>
          </a:p>
        </p:txBody>
      </p:sp>
      <p:sp>
        <p:nvSpPr>
          <p:cNvPr id="14" name="Text 11"/>
          <p:cNvSpPr/>
          <p:nvPr/>
        </p:nvSpPr>
        <p:spPr>
          <a:xfrm>
            <a:off x="6672263" y="2263118"/>
            <a:ext cx="175736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Arbitrator Module</a:t>
            </a:r>
            <a:endParaRPr lang="en-US" sz="1090" dirty="0"/>
          </a:p>
        </p:txBody>
      </p:sp>
      <p:sp>
        <p:nvSpPr>
          <p:cNvPr id="15" name="Text 12"/>
          <p:cNvSpPr/>
          <p:nvPr/>
        </p:nvSpPr>
        <p:spPr>
          <a:xfrm>
            <a:off x="6672263" y="2538152"/>
            <a:ext cx="1757363" cy="914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Synthesizes outputs, verifies them against constraints, and triggers retry loops if failures are detected before returning the final response.</a:t>
            </a:r>
            <a:endParaRPr lang="en-US" sz="834" dirty="0"/>
          </a:p>
        </p:txBody>
      </p:sp>
      <p:sp>
        <p:nvSpPr>
          <p:cNvPr id="16" name="Text 13"/>
          <p:cNvSpPr/>
          <p:nvPr/>
        </p:nvSpPr>
        <p:spPr>
          <a:xfrm>
            <a:off x="914400" y="4429125"/>
            <a:ext cx="55149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four-layer architecture ensures that </a:t>
            </a:r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single component bears the burden </a:t>
            </a:r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perfect reasoning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3521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571500"/>
            <a:ext cx="7143750" cy="68580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F8F9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Monte Carlo Simulation Shows 68% Improvement at 5-Step Reasoning Depth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714375" y="1543050"/>
            <a:ext cx="3340094" cy="1440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Monte Carlo simulation (1000 iterations per depth)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formal analysis demonstrate VERA's effectiveness: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standard LLM at 5 steps (15% per-step error)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reaches only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44.4% success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whereas VERA—routing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specialist engines (math 1%, facts 5%, semantics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10%) with 95% routing accuracy—achieves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74.6%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42" dirty="0"/>
          </a:p>
        </p:txBody>
      </p:sp>
      <p:sp>
        <p:nvSpPr>
          <p:cNvPr id="5" name="Text 2"/>
          <p:cNvSpPr/>
          <p:nvPr/>
        </p:nvSpPr>
        <p:spPr>
          <a:xfrm>
            <a:off x="714375" y="3068799"/>
            <a:ext cx="3340094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10 steps the gap widens: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19% vs VERA 55%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difference between an experimental tool and a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production-ready system.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714375" y="3771677"/>
            <a:ext cx="3340094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results hold across depths and highlight VERA's resilience under deep reasoning.</a:t>
            </a:r>
            <a:endParaRPr lang="en-US" sz="942" dirty="0"/>
          </a:p>
        </p:txBody>
      </p:sp>
      <p:sp>
        <p:nvSpPr>
          <p:cNvPr id="7" name="Shape 4"/>
          <p:cNvSpPr/>
          <p:nvPr/>
        </p:nvSpPr>
        <p:spPr>
          <a:xfrm>
            <a:off x="714375" y="4354562"/>
            <a:ext cx="3340094" cy="997558"/>
          </a:xfrm>
          <a:prstGeom prst="rect">
            <a:avLst/>
          </a:prstGeom>
          <a:solidFill>
            <a:srgbClr val="D90429">
              <a:alpha val="5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714375" y="4354562"/>
            <a:ext cx="28575" cy="997558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9" name="Text 6"/>
          <p:cNvSpPr/>
          <p:nvPr/>
        </p:nvSpPr>
        <p:spPr>
          <a:xfrm>
            <a:off x="842963" y="4426000"/>
            <a:ext cx="308291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D904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RESULT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842963" y="4620667"/>
            <a:ext cx="3082919" cy="660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F8F9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VERA maintains viability even at deep reasoning depths where standard LLMs become impractical.</a:t>
            </a:r>
            <a:endParaRPr lang="en-US" sz="1090" dirty="0"/>
          </a:p>
        </p:txBody>
      </p:sp>
      <p:sp>
        <p:nvSpPr>
          <p:cNvPr id="11" name="Shape 8"/>
          <p:cNvSpPr/>
          <p:nvPr/>
        </p:nvSpPr>
        <p:spPr>
          <a:xfrm>
            <a:off x="4340219" y="1543050"/>
            <a:ext cx="4089406" cy="2185988"/>
          </a:xfrm>
          <a:prstGeom prst="rect">
            <a:avLst/>
          </a:prstGeom>
          <a:solidFill>
            <a:srgbClr val="F8F9FA"/>
          </a:solidFill>
          <a:ln w="9144">
            <a:solidFill>
              <a:srgbClr val="8D99AE">
                <a:alpha val="30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6195" y="1628775"/>
            <a:ext cx="3917705" cy="20002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5700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571500"/>
            <a:ext cx="7143750" cy="68580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F8F9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Proof-of-Concept Implementation Successfully Handles Multi-Modal Tasks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942975" y="1371600"/>
            <a:ext cx="748665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working prototype developed in Python demonstrates all core VERA components in action.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800100" y="1987748"/>
            <a:ext cx="2287786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8F9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Test Case 1: Success Path</a:t>
            </a:r>
            <a:endParaRPr lang="en-US" sz="1397" dirty="0"/>
          </a:p>
        </p:txBody>
      </p:sp>
      <p:sp>
        <p:nvSpPr>
          <p:cNvPr id="6" name="Text 3"/>
          <p:cNvSpPr/>
          <p:nvPr/>
        </p:nvSpPr>
        <p:spPr>
          <a:xfrm>
            <a:off x="714375" y="2368153"/>
            <a:ext cx="37147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prompt requesting both a financial calculation and an email draft.</a:t>
            </a:r>
            <a:endParaRPr lang="en-US" sz="942" dirty="0"/>
          </a:p>
        </p:txBody>
      </p:sp>
      <p:sp>
        <p:nvSpPr>
          <p:cNvPr id="7" name="Shape 4"/>
          <p:cNvSpPr/>
          <p:nvPr/>
        </p:nvSpPr>
        <p:spPr>
          <a:xfrm>
            <a:off x="714375" y="2893888"/>
            <a:ext cx="3714750" cy="125730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714375" y="2893888"/>
            <a:ext cx="28575" cy="125730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9" name="Text 6"/>
          <p:cNvSpPr/>
          <p:nvPr/>
        </p:nvSpPr>
        <p:spPr>
          <a:xfrm>
            <a:off x="828675" y="3008188"/>
            <a:ext cx="34861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Segmentation: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Correctly splits math and semantic tasks.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828675" y="3179638"/>
            <a:ext cx="34861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Routing: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Math to Deterministic Sandbox, email to LLM.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828675" y="3351088"/>
            <a:ext cx="3486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Execution: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Sandbox calculates exact compound interest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($12,762.82).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828675" y="3693988"/>
            <a:ext cx="3486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Arbitration: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Synthesizes both outputs into a coherent final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response. All tasks verified successfully.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4800600" y="1987748"/>
            <a:ext cx="2619970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8F9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Test Case 2: Graceful Failure</a:t>
            </a:r>
            <a:endParaRPr lang="en-US" sz="1397" dirty="0"/>
          </a:p>
        </p:txBody>
      </p:sp>
      <p:sp>
        <p:nvSpPr>
          <p:cNvPr id="14" name="Text 11"/>
          <p:cNvSpPr/>
          <p:nvPr/>
        </p:nvSpPr>
        <p:spPr>
          <a:xfrm>
            <a:off x="4714875" y="2368153"/>
            <a:ext cx="371475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prompt requesting factual information and summarization.</a:t>
            </a:r>
            <a:endParaRPr lang="en-US" sz="942" dirty="0"/>
          </a:p>
        </p:txBody>
      </p:sp>
      <p:sp>
        <p:nvSpPr>
          <p:cNvPr id="15" name="Shape 12"/>
          <p:cNvSpPr/>
          <p:nvPr/>
        </p:nvSpPr>
        <p:spPr>
          <a:xfrm>
            <a:off x="4714875" y="2688171"/>
            <a:ext cx="3714750" cy="125730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4714875" y="2688171"/>
            <a:ext cx="28575" cy="125730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7" name="Text 14"/>
          <p:cNvSpPr/>
          <p:nvPr/>
        </p:nvSpPr>
        <p:spPr>
          <a:xfrm>
            <a:off x="4829175" y="2802471"/>
            <a:ext cx="3486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Execution: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Retrieves verified fact (Jane Austen) from RAG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engine.</a:t>
            </a:r>
            <a:endParaRPr lang="en-US" sz="834" dirty="0"/>
          </a:p>
        </p:txBody>
      </p:sp>
      <p:sp>
        <p:nvSpPr>
          <p:cNvPr id="18" name="Text 15"/>
          <p:cNvSpPr/>
          <p:nvPr/>
        </p:nvSpPr>
        <p:spPr>
          <a:xfrm>
            <a:off x="4829175" y="3145371"/>
            <a:ext cx="3486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Failure: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Semantic task fails (cannot summarize without more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context).</a:t>
            </a:r>
            <a:endParaRPr lang="en-US" sz="834" dirty="0"/>
          </a:p>
        </p:txBody>
      </p:sp>
      <p:sp>
        <p:nvSpPr>
          <p:cNvPr id="19" name="Text 16"/>
          <p:cNvSpPr/>
          <p:nvPr/>
        </p:nvSpPr>
        <p:spPr>
          <a:xfrm>
            <a:off x="4829175" y="3488271"/>
            <a:ext cx="3486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Arbitration: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Gracefully handles the failure, preventing a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hallucination from reaching the user.</a:t>
            </a:r>
            <a:endParaRPr lang="en-US" sz="834" dirty="0"/>
          </a:p>
        </p:txBody>
      </p:sp>
      <p:sp>
        <p:nvSpPr>
          <p:cNvPr id="20" name="Shape 17"/>
          <p:cNvSpPr/>
          <p:nvPr/>
        </p:nvSpPr>
        <p:spPr>
          <a:xfrm>
            <a:off x="714375" y="4365501"/>
            <a:ext cx="7715250" cy="505755"/>
          </a:xfrm>
          <a:prstGeom prst="rect">
            <a:avLst/>
          </a:prstGeom>
          <a:solidFill>
            <a:srgbClr val="D90429">
              <a:alpha val="5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714375" y="4365501"/>
            <a:ext cx="57150" cy="505755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2" name="Text 19"/>
          <p:cNvSpPr/>
          <p:nvPr/>
        </p:nvSpPr>
        <p:spPr>
          <a:xfrm>
            <a:off x="942975" y="4508376"/>
            <a:ext cx="7258050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prototype proves that VERA's architecture is not theoretical—</a:t>
            </a:r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D904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works in practice</a:t>
            </a:r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9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38778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571500"/>
            <a:ext cx="7143750" cy="822927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8F9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VERA Addresses All Four LLM Failure Modes with Targeted Solutions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885825" y="1823052"/>
            <a:ext cx="38361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8F9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Hallucinations Eliminated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885825" y="2108802"/>
            <a:ext cx="3836194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Factual queries bypass internal weights and are resolved against verified sources. The LLM only synthesizes grounded truth.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885825" y="2916045"/>
            <a:ext cx="38361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8F9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Logical Errors Prevented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885825" y="3201795"/>
            <a:ext cx="383619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Math and logic are translated into executable code and run, not guessed. The Deterministic Sandbox guarantees correctness.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885825" y="3816158"/>
            <a:ext cx="38361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8F9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Multi-Step Failures Prevented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885825" y="4101908"/>
            <a:ext cx="383619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step is verified independently before proceeding. Errors cannot accumulate across sequential reasoning steps.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885825" y="4716270"/>
            <a:ext cx="38361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8F9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Edge Case Brittleness Mitigated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885825" y="5002020"/>
            <a:ext cx="383619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Failures are caught by the Arbitrator and retried with modified constraints, preventing catastrophic failure.</a:t>
            </a:r>
            <a:endParaRPr lang="en-US" sz="942" dirty="0"/>
          </a:p>
        </p:txBody>
      </p:sp>
      <p:sp>
        <p:nvSpPr>
          <p:cNvPr id="12" name="Shape 9"/>
          <p:cNvSpPr/>
          <p:nvPr/>
        </p:nvSpPr>
        <p:spPr>
          <a:xfrm>
            <a:off x="5150644" y="2479579"/>
            <a:ext cx="3278981" cy="2251677"/>
          </a:xfrm>
          <a:prstGeom prst="rect">
            <a:avLst/>
          </a:prstGeom>
          <a:solidFill>
            <a:srgbClr val="D90429">
              <a:alpha val="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50644" y="2479579"/>
            <a:ext cx="57150" cy="2251677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4" name="Text 11"/>
          <p:cNvSpPr/>
          <p:nvPr/>
        </p:nvSpPr>
        <p:spPr>
          <a:xfrm>
            <a:off x="5379244" y="2765329"/>
            <a:ext cx="2821781" cy="1680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VERA does not just improve </a:t>
            </a:r>
            <a:pPr algn="l" indent="0" marL="0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performance—it </a:t>
            </a:r>
            <a:pPr algn="l" indent="0" marL="0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fundamentally changes the </a:t>
            </a:r>
            <a:pPr algn="l" indent="0" marL="0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failure mode from </a:t>
            </a:r>
            <a:pPr algn="l" indent="0" marL="0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D904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"hallucination"</a:t>
            </a:r>
            <a:pPr algn="l" indent="0" marL="0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</a:t>
            </a:r>
            <a:pPr algn="l" indent="0" marL="0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D904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"graceful </a:t>
            </a:r>
            <a:pPr algn="l" indent="0" marL="0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D904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degradation."</a:t>
            </a:r>
            <a:endParaRPr lang="en-US" sz="1397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571500"/>
            <a:ext cx="7143750" cy="72006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8F9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VERA Exposes a Standard REST API, Making Integration Seamless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714375" y="1648755"/>
            <a:ext cx="364331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Drop-In Replacement</a:t>
            </a:r>
            <a:endParaRPr lang="en-US" sz="1090" dirty="0"/>
          </a:p>
        </p:txBody>
      </p:sp>
      <p:sp>
        <p:nvSpPr>
          <p:cNvPr id="5" name="Text 2"/>
          <p:cNvSpPr/>
          <p:nvPr/>
        </p:nvSpPr>
        <p:spPr>
          <a:xfrm>
            <a:off x="714375" y="1895215"/>
            <a:ext cx="3643313" cy="578644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Designed to be compatible with OpenAI's Chat Completion interface. Developers can integrate VERA with minimal code changes.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714375" y="2645308"/>
            <a:ext cx="364331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Explainability</a:t>
            </a:r>
            <a:endParaRPr lang="en-US" sz="1090" dirty="0"/>
          </a:p>
        </p:txBody>
      </p:sp>
      <p:sp>
        <p:nvSpPr>
          <p:cNvPr id="7" name="Text 4"/>
          <p:cNvSpPr/>
          <p:nvPr/>
        </p:nvSpPr>
        <p:spPr>
          <a:xfrm>
            <a:off x="714375" y="2891768"/>
            <a:ext cx="3643313" cy="578644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Returns a verified response along with metadata detailing the execution graph, code executed, and facts retrieved. Users see exactly how VERA arrived at its answer.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714375" y="3641861"/>
            <a:ext cx="364331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Latency</a:t>
            </a:r>
            <a:endParaRPr lang="en-US" sz="1090" dirty="0"/>
          </a:p>
        </p:txBody>
      </p:sp>
      <p:sp>
        <p:nvSpPr>
          <p:cNvPr id="9" name="Text 6"/>
          <p:cNvSpPr/>
          <p:nvPr/>
        </p:nvSpPr>
        <p:spPr>
          <a:xfrm>
            <a:off x="714375" y="3888321"/>
            <a:ext cx="3643313" cy="38576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Acceptable for most applications: 200-700ms end-to-end (segmentation + routing + execution + arbitration).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714375" y="4445533"/>
            <a:ext cx="364331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Model-Agnostic</a:t>
            </a:r>
            <a:endParaRPr lang="en-US" sz="1090" dirty="0"/>
          </a:p>
        </p:txBody>
      </p:sp>
      <p:sp>
        <p:nvSpPr>
          <p:cNvPr id="11" name="Text 8"/>
          <p:cNvSpPr/>
          <p:nvPr/>
        </p:nvSpPr>
        <p:spPr>
          <a:xfrm>
            <a:off x="714375" y="4691993"/>
            <a:ext cx="3643313" cy="38576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 with any underlying LLM via API (GPT-4, Claude, Llama), acting as a universal verification layer.</a:t>
            </a:r>
            <a:endParaRPr lang="en-US" sz="942" dirty="0"/>
          </a:p>
        </p:txBody>
      </p:sp>
      <p:sp>
        <p:nvSpPr>
          <p:cNvPr id="12" name="Shape 9"/>
          <p:cNvSpPr/>
          <p:nvPr/>
        </p:nvSpPr>
        <p:spPr>
          <a:xfrm>
            <a:off x="4786313" y="2238924"/>
            <a:ext cx="3643313" cy="2314408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3" name="Shape 10"/>
          <p:cNvSpPr/>
          <p:nvPr/>
        </p:nvSpPr>
        <p:spPr>
          <a:xfrm>
            <a:off x="4786313" y="2238924"/>
            <a:ext cx="3643313" cy="28575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4" name="Text 11"/>
          <p:cNvSpPr/>
          <p:nvPr/>
        </p:nvSpPr>
        <p:spPr>
          <a:xfrm>
            <a:off x="4786313" y="2238924"/>
            <a:ext cx="3643313" cy="2314408"/>
          </a:xfrm>
          <a:prstGeom prst="rect">
            <a:avLst/>
          </a:prstGeom>
          <a:noFill/>
          <a:ln/>
        </p:spPr>
        <p:txBody>
          <a:bodyPr wrap="square" lIns="272161" tIns="272161" rIns="272161" bIns="272161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pPr algn="l" indent="0" marL="0">
              <a:lnSpc>
                <a:spcPts val="1400"/>
              </a:lnSpc>
              <a:buNone/>
            </a:pPr>
            <a:r>
              <a:rPr lang="en-US" sz="834" i="1" dirty="0">
                <a:solidFill>
                  <a:srgbClr val="6C757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# Seamless integration with existing codebases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ED4D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D9042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from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ED4D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vera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D9042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import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ED4D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VERAClient client =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ED4D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VERAClient(api_key=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8D99A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"..."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ED4D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, base_model=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8D99A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"gpt-4"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ED4D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)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ED4D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response = client.chat.completions.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9F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create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ED4D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ED4D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messages=[ {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8D99A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"role"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ED4D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: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8D99A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"user"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ED4D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,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8D99A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"content"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ED4D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: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8D99A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"Calculate 5% of $1000 and explain it."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ED4D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} ],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ED4D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model=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8D99A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"gpt-4"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ED4D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)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9F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print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ED4D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(response.choices[0].message.content) </a:t>
            </a:r>
            <a:pPr algn="l" indent="0" marL="0">
              <a:lnSpc>
                <a:spcPts val="1400"/>
              </a:lnSpc>
              <a:buNone/>
            </a:pPr>
            <a:r>
              <a:rPr lang="en-US" sz="834" i="1" dirty="0">
                <a:solidFill>
                  <a:srgbClr val="6C757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# </a:t>
            </a:r>
            <a:pPr algn="l" indent="0" marL="0">
              <a:lnSpc>
                <a:spcPts val="1400"/>
              </a:lnSpc>
              <a:buNone/>
            </a:pPr>
            <a:r>
              <a:rPr lang="en-US" sz="834" i="1" dirty="0">
                <a:solidFill>
                  <a:srgbClr val="6C757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Output includes verified math and semantic </a:t>
            </a:r>
            <a:pPr algn="l" indent="0" marL="0">
              <a:lnSpc>
                <a:spcPts val="1400"/>
              </a:lnSpc>
              <a:buNone/>
            </a:pPr>
            <a:r>
              <a:rPr lang="en-US" sz="834" i="1" dirty="0">
                <a:solidFill>
                  <a:srgbClr val="6C757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explanation</a:t>
            </a:r>
            <a:pPr algn="l" indent="0" marL="0">
              <a:lnSpc>
                <a:spcPts val="1400"/>
              </a:lnSpc>
              <a:buNone/>
            </a:pPr>
            <a:endParaRPr lang="en-US" sz="83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571500"/>
            <a:ext cx="7143750" cy="72006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8F9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VERA Unlocks High-Stakes Domains Where LLM Hallucinations Are Unacceptable</a:t>
            </a:r>
            <a:endParaRPr lang="en-US" sz="2121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727336"/>
            <a:ext cx="228600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57275" y="1698761"/>
            <a:ext cx="179308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8F9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Defense &amp; Intelligence</a:t>
            </a:r>
            <a:endParaRPr lang="en-US" sz="1193" dirty="0"/>
          </a:p>
        </p:txBody>
      </p:sp>
      <p:sp>
        <p:nvSpPr>
          <p:cNvPr id="6" name="Text 2"/>
          <p:cNvSpPr/>
          <p:nvPr/>
        </p:nvSpPr>
        <p:spPr>
          <a:xfrm>
            <a:off x="714375" y="2013086"/>
            <a:ext cx="3643313" cy="685800"/>
          </a:xfrm>
          <a:prstGeom prst="rect">
            <a:avLst/>
          </a:prstGeom>
          <a:noFill/>
          <a:ln/>
        </p:spPr>
        <p:txBody>
          <a:bodyPr wrap="square" lIns="408178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 threat analysis, logistics planning, and strategic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recommendations. </a:t>
            </a:r>
            <a:pPr algn="l" indent="0" marL="0">
              <a:lnSpc>
                <a:spcPts val="1400"/>
              </a:lnSpc>
              <a:buNone/>
            </a:pPr>
            <a:r>
              <a:rPr lang="en-US" sz="834" i="1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Aligns with Dr. Shaheen's work with </a:t>
            </a:r>
            <a:pPr algn="l" indent="0" marL="0">
              <a:lnSpc>
                <a:spcPts val="1400"/>
              </a:lnSpc>
              <a:buNone/>
            </a:pPr>
            <a:r>
              <a:rPr lang="en-US" sz="834" i="1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Dubai Police, Ministry of Defense, and Oman's naval defense </a:t>
            </a:r>
            <a:pPr algn="l" indent="0" marL="0">
              <a:lnSpc>
                <a:spcPts val="1400"/>
              </a:lnSpc>
              <a:buNone/>
            </a:pPr>
            <a:r>
              <a:rPr lang="en-US" sz="834" i="1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systems.</a:t>
            </a:r>
            <a:endParaRPr lang="en-US" sz="834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313" y="1727336"/>
            <a:ext cx="228600" cy="1714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129213" y="1698761"/>
            <a:ext cx="12858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8F9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Finance &amp; Legal</a:t>
            </a:r>
            <a:endParaRPr lang="en-US" sz="1193" dirty="0"/>
          </a:p>
        </p:txBody>
      </p:sp>
      <p:sp>
        <p:nvSpPr>
          <p:cNvPr id="9" name="Text 4"/>
          <p:cNvSpPr/>
          <p:nvPr/>
        </p:nvSpPr>
        <p:spPr>
          <a:xfrm>
            <a:off x="4786313" y="2013086"/>
            <a:ext cx="3643313" cy="514350"/>
          </a:xfrm>
          <a:prstGeom prst="rect">
            <a:avLst/>
          </a:prstGeom>
          <a:noFill/>
          <a:ln/>
        </p:spPr>
        <p:txBody>
          <a:bodyPr wrap="square" lIns="408178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contract analysis, financial modeling, and regulatory compliance where deterministic accuracy is legally required and errors carry massive financial penalties.</a:t>
            </a:r>
            <a:endParaRPr lang="en-US" sz="834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3063218"/>
            <a:ext cx="228600" cy="1714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57275" y="3034643"/>
            <a:ext cx="8661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8F9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Healthcare</a:t>
            </a:r>
            <a:endParaRPr lang="en-US" sz="1193" dirty="0"/>
          </a:p>
        </p:txBody>
      </p:sp>
      <p:sp>
        <p:nvSpPr>
          <p:cNvPr id="12" name="Text 6"/>
          <p:cNvSpPr/>
          <p:nvPr/>
        </p:nvSpPr>
        <p:spPr>
          <a:xfrm>
            <a:off x="714375" y="3348968"/>
            <a:ext cx="3643313" cy="514350"/>
          </a:xfrm>
          <a:prstGeom prst="rect">
            <a:avLst/>
          </a:prstGeom>
          <a:noFill/>
          <a:ln/>
        </p:spPr>
        <p:txBody>
          <a:bodyPr wrap="square" lIns="408178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Clinical decision support systems where factual accuracy and logical consistency are critical for patient safety and medical diagnosis.</a:t>
            </a:r>
            <a:endParaRPr lang="en-US" sz="834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313" y="3063218"/>
            <a:ext cx="228600" cy="17145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129213" y="3034643"/>
            <a:ext cx="17520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8F9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Enterprise Consulting</a:t>
            </a:r>
            <a:endParaRPr lang="en-US" sz="1193" dirty="0"/>
          </a:p>
        </p:txBody>
      </p:sp>
      <p:sp>
        <p:nvSpPr>
          <p:cNvPr id="15" name="Text 8"/>
          <p:cNvSpPr/>
          <p:nvPr/>
        </p:nvSpPr>
        <p:spPr>
          <a:xfrm>
            <a:off x="4786313" y="3348968"/>
            <a:ext cx="3643313" cy="514350"/>
          </a:xfrm>
          <a:prstGeom prst="rect">
            <a:avLst/>
          </a:prstGeom>
          <a:noFill/>
          <a:ln/>
        </p:spPr>
        <p:txBody>
          <a:bodyPr wrap="square" lIns="408178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 API layer for corporations deploying internal AI agents for strategic planning, ensuring business intelligence is grounded in verified data.</a:t>
            </a:r>
            <a:endParaRPr lang="en-US" sz="834" dirty="0"/>
          </a:p>
        </p:txBody>
      </p:sp>
      <p:sp>
        <p:nvSpPr>
          <p:cNvPr id="16" name="Shape 9"/>
          <p:cNvSpPr/>
          <p:nvPr/>
        </p:nvSpPr>
        <p:spPr>
          <a:xfrm>
            <a:off x="714375" y="4131990"/>
            <a:ext cx="7715250" cy="725760"/>
          </a:xfrm>
          <a:prstGeom prst="rect">
            <a:avLst/>
          </a:prstGeom>
          <a:solidFill>
            <a:srgbClr val="D90429">
              <a:alpha val="5000"/>
            </a:srgbClr>
          </a:solidFill>
          <a:ln/>
        </p:spPr>
      </p:sp>
      <p:sp>
        <p:nvSpPr>
          <p:cNvPr id="17" name="Shape 10"/>
          <p:cNvSpPr/>
          <p:nvPr/>
        </p:nvSpPr>
        <p:spPr>
          <a:xfrm>
            <a:off x="714375" y="4131990"/>
            <a:ext cx="57150" cy="72576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8" name="Text 11"/>
          <p:cNvSpPr/>
          <p:nvPr/>
        </p:nvSpPr>
        <p:spPr>
          <a:xfrm>
            <a:off x="942975" y="4274865"/>
            <a:ext cx="7258050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each domain, the cost of hallucination is prohibitive. VERA transforms LLMs from </a:t>
            </a:r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experimental tools into </a:t>
            </a:r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D904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trustworthy components of critical infrastructure</a:t>
            </a:r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9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571500"/>
            <a:ext cx="7143750" cy="72006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8F9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VERA Offers Unique Advantages Over Existing LLM Wrappers and Neurosymbolic Approaches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885825" y="1463018"/>
            <a:ext cx="4243388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spc="1" kern="0" dirty="0">
                <a:solidFill>
                  <a:srgbClr val="F8F9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MODEL-AGNOSTIC</a:t>
            </a:r>
            <a:endParaRPr lang="en-US" sz="1090" dirty="0"/>
          </a:p>
        </p:txBody>
      </p:sp>
      <p:sp>
        <p:nvSpPr>
          <p:cNvPr id="5" name="Text 2"/>
          <p:cNvSpPr/>
          <p:nvPr/>
        </p:nvSpPr>
        <p:spPr>
          <a:xfrm>
            <a:off x="885825" y="1700547"/>
            <a:ext cx="42433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 seamlessly with any LLM via API. Organizations are not locked into a single vendor or proprietary model ecosystem.</a:t>
            </a:r>
            <a:endParaRPr lang="en-US" sz="834" dirty="0"/>
          </a:p>
        </p:txBody>
      </p:sp>
      <p:sp>
        <p:nvSpPr>
          <p:cNvPr id="6" name="Text 3"/>
          <p:cNvSpPr/>
          <p:nvPr/>
        </p:nvSpPr>
        <p:spPr>
          <a:xfrm>
            <a:off x="885825" y="2129172"/>
            <a:ext cx="4243388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spc="1" kern="0" dirty="0">
                <a:solidFill>
                  <a:srgbClr val="F8F9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EXPLAINABLE</a:t>
            </a:r>
            <a:endParaRPr lang="en-US" sz="1090" dirty="0"/>
          </a:p>
        </p:txBody>
      </p:sp>
      <p:sp>
        <p:nvSpPr>
          <p:cNvPr id="7" name="Text 4"/>
          <p:cNvSpPr/>
          <p:nvPr/>
        </p:nvSpPr>
        <p:spPr>
          <a:xfrm>
            <a:off x="885825" y="2366702"/>
            <a:ext cx="42433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decision, calculation, and retrieved fact is traceable to a specific engine and execution step, providing full transparency.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885825" y="2795327"/>
            <a:ext cx="4243388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spc="1" kern="0" dirty="0">
                <a:solidFill>
                  <a:srgbClr val="F8F9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DETERMINISTIC</a:t>
            </a:r>
            <a:endParaRPr lang="en-US" sz="1090" dirty="0"/>
          </a:p>
        </p:txBody>
      </p:sp>
      <p:sp>
        <p:nvSpPr>
          <p:cNvPr id="9" name="Text 6"/>
          <p:cNvSpPr/>
          <p:nvPr/>
        </p:nvSpPr>
        <p:spPr>
          <a:xfrm>
            <a:off x="885825" y="3032857"/>
            <a:ext cx="42433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Mathematical operations and factual retrievals are guaranteed correct, eliminating the probabilistic guessing inherent in LLMs.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885825" y="3461482"/>
            <a:ext cx="4243388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spc="1" kern="0" dirty="0">
                <a:solidFill>
                  <a:srgbClr val="F8F9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SCALABLE</a:t>
            </a:r>
            <a:endParaRPr lang="en-US" sz="1090" dirty="0"/>
          </a:p>
        </p:txBody>
      </p:sp>
      <p:sp>
        <p:nvSpPr>
          <p:cNvPr id="11" name="Text 8"/>
          <p:cNvSpPr/>
          <p:nvPr/>
        </p:nvSpPr>
        <p:spPr>
          <a:xfrm>
            <a:off x="885825" y="3699011"/>
            <a:ext cx="42433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modular DAG architecture allows for the seamless addition of new specialized execution engines or custom verification rules.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885825" y="4127636"/>
            <a:ext cx="4243388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spc="1" kern="0" dirty="0">
                <a:solidFill>
                  <a:srgbClr val="F8F9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COST-EFFICIENT</a:t>
            </a:r>
            <a:endParaRPr lang="en-US" sz="1090" dirty="0"/>
          </a:p>
        </p:txBody>
      </p:sp>
      <p:sp>
        <p:nvSpPr>
          <p:cNvPr id="13" name="Text 10"/>
          <p:cNvSpPr/>
          <p:nvPr/>
        </p:nvSpPr>
        <p:spPr>
          <a:xfrm>
            <a:off x="885825" y="4365166"/>
            <a:ext cx="42433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Significantly reduces unnecessary LLM token usage by routing computational and factual tasks to cheaper, specialized deterministic engines.</a:t>
            </a:r>
            <a:endParaRPr lang="en-US" sz="834" dirty="0"/>
          </a:p>
        </p:txBody>
      </p:sp>
      <p:sp>
        <p:nvSpPr>
          <p:cNvPr id="14" name="Shape 11"/>
          <p:cNvSpPr/>
          <p:nvPr/>
        </p:nvSpPr>
        <p:spPr>
          <a:xfrm>
            <a:off x="5486400" y="1900405"/>
            <a:ext cx="2943225" cy="2805708"/>
          </a:xfrm>
          <a:prstGeom prst="rect">
            <a:avLst/>
          </a:prstGeom>
          <a:solidFill>
            <a:srgbClr val="8D99AE">
              <a:alpha val="5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0" y="1900405"/>
            <a:ext cx="2943225" cy="28575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6" name="Text 13"/>
          <p:cNvSpPr/>
          <p:nvPr/>
        </p:nvSpPr>
        <p:spPr>
          <a:xfrm>
            <a:off x="5600700" y="2057567"/>
            <a:ext cx="2714625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VS. STANDARD RAG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5600700" y="2252235"/>
            <a:ext cx="271462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VERA adds </a:t>
            </a:r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D904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deterministic execution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verification, ensuring facts are not 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just retrieved, but correctly applied.</a:t>
            </a:r>
            <a:endParaRPr lang="en-US" sz="942" dirty="0"/>
          </a:p>
        </p:txBody>
      </p:sp>
      <p:sp>
        <p:nvSpPr>
          <p:cNvPr id="18" name="Text 15"/>
          <p:cNvSpPr/>
          <p:nvPr/>
        </p:nvSpPr>
        <p:spPr>
          <a:xfrm>
            <a:off x="5600700" y="2916603"/>
            <a:ext cx="2714625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VS. MANUAL NEUROSYMBOLIC</a:t>
            </a:r>
            <a:endParaRPr lang="en-US" sz="784" dirty="0"/>
          </a:p>
        </p:txBody>
      </p:sp>
      <p:sp>
        <p:nvSpPr>
          <p:cNvPr id="19" name="Text 16"/>
          <p:cNvSpPr/>
          <p:nvPr/>
        </p:nvSpPr>
        <p:spPr>
          <a:xfrm>
            <a:off x="5600700" y="3111271"/>
            <a:ext cx="271462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VERA is </a:t>
            </a:r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D904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and scalable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eliminating 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need for hardcoding complex formal 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logic rules for every new task.</a:t>
            </a:r>
            <a:endParaRPr lang="en-US" sz="942" dirty="0"/>
          </a:p>
        </p:txBody>
      </p:sp>
      <p:sp>
        <p:nvSpPr>
          <p:cNvPr id="20" name="Text 17"/>
          <p:cNvSpPr/>
          <p:nvPr/>
        </p:nvSpPr>
        <p:spPr>
          <a:xfrm>
            <a:off x="5600700" y="3775639"/>
            <a:ext cx="2714625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VS. PROMPT ENGINEERING</a:t>
            </a:r>
            <a:endParaRPr lang="en-US" sz="784" dirty="0"/>
          </a:p>
        </p:txBody>
      </p:sp>
      <p:sp>
        <p:nvSpPr>
          <p:cNvPr id="21" name="Text 18"/>
          <p:cNvSpPr/>
          <p:nvPr/>
        </p:nvSpPr>
        <p:spPr>
          <a:xfrm>
            <a:off x="5600700" y="3970306"/>
            <a:ext cx="271462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VERA addresses the </a:t>
            </a:r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D904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root architectural </a:t>
            </a:r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D904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token prediction, rather than 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merely treating the symptoms.</a:t>
            </a:r>
            <a:endParaRPr lang="en-US" sz="942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571500"/>
            <a:ext cx="7143750" cy="72006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8F9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From Prototype to Production: A Clear Path to Market</a:t>
            </a:r>
            <a:endParaRPr lang="en-US" sz="2121" dirty="0"/>
          </a:p>
        </p:txBody>
      </p:sp>
      <p:sp>
        <p:nvSpPr>
          <p:cNvPr id="4" name="Shape 1"/>
          <p:cNvSpPr/>
          <p:nvPr/>
        </p:nvSpPr>
        <p:spPr>
          <a:xfrm>
            <a:off x="714375" y="1734480"/>
            <a:ext cx="114300" cy="28575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5" name="Text 2"/>
          <p:cNvSpPr/>
          <p:nvPr/>
        </p:nvSpPr>
        <p:spPr>
          <a:xfrm>
            <a:off x="1057275" y="1648755"/>
            <a:ext cx="667941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8F9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Phase 1</a:t>
            </a:r>
            <a:endParaRPr lang="en-US" sz="1397" dirty="0"/>
          </a:p>
        </p:txBody>
      </p:sp>
      <p:sp>
        <p:nvSpPr>
          <p:cNvPr id="6" name="Shape 3"/>
          <p:cNvSpPr/>
          <p:nvPr/>
        </p:nvSpPr>
        <p:spPr>
          <a:xfrm>
            <a:off x="1839516" y="1685367"/>
            <a:ext cx="823317" cy="192881"/>
          </a:xfrm>
          <a:prstGeom prst="rect">
            <a:avLst/>
          </a:prstGeom>
          <a:solidFill>
            <a:srgbClr val="D90429">
              <a:alpha val="10000"/>
            </a:srgbClr>
          </a:solidFill>
          <a:ln w="9144">
            <a:solidFill>
              <a:srgbClr val="D9042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39516" y="1685367"/>
            <a:ext cx="823317" cy="192881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D904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1057275" y="1972010"/>
            <a:ext cx="420479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Prototype development and rigorous mathematical validation of the core routing architecture.</a:t>
            </a:r>
            <a:endParaRPr lang="en-US" sz="942" dirty="0"/>
          </a:p>
        </p:txBody>
      </p:sp>
      <p:sp>
        <p:nvSpPr>
          <p:cNvPr id="9" name="Shape 6"/>
          <p:cNvSpPr/>
          <p:nvPr/>
        </p:nvSpPr>
        <p:spPr>
          <a:xfrm>
            <a:off x="714375" y="2529222"/>
            <a:ext cx="114300" cy="28575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10" name="Text 7"/>
          <p:cNvSpPr/>
          <p:nvPr/>
        </p:nvSpPr>
        <p:spPr>
          <a:xfrm>
            <a:off x="1057275" y="2443497"/>
            <a:ext cx="694730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8F9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Phase 2</a:t>
            </a:r>
            <a:endParaRPr lang="en-US" sz="1397" dirty="0"/>
          </a:p>
        </p:txBody>
      </p:sp>
      <p:sp>
        <p:nvSpPr>
          <p:cNvPr id="11" name="Shape 8"/>
          <p:cNvSpPr/>
          <p:nvPr/>
        </p:nvSpPr>
        <p:spPr>
          <a:xfrm>
            <a:off x="1866305" y="2480109"/>
            <a:ext cx="816173" cy="192881"/>
          </a:xfrm>
          <a:prstGeom prst="rect">
            <a:avLst/>
          </a:prstGeom>
          <a:solidFill>
            <a:srgbClr val="8D99AE">
              <a:alpha val="10000"/>
            </a:srgbClr>
          </a:solidFill>
          <a:ln w="9144">
            <a:solidFill>
              <a:srgbClr val="8D99A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866305" y="2480109"/>
            <a:ext cx="816173" cy="192881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PROPOSED</a:t>
            </a:r>
            <a:endParaRPr lang="en-US" sz="683" dirty="0"/>
          </a:p>
        </p:txBody>
      </p:sp>
      <p:sp>
        <p:nvSpPr>
          <p:cNvPr id="13" name="Text 10"/>
          <p:cNvSpPr/>
          <p:nvPr/>
        </p:nvSpPr>
        <p:spPr>
          <a:xfrm>
            <a:off x="1057275" y="2766752"/>
            <a:ext cx="420479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Production-grade implementation with enterprise-scale RAG, advanced segmentation using fine-tuned models, and comprehensive error handling.</a:t>
            </a:r>
            <a:endParaRPr lang="en-US" sz="942" dirty="0"/>
          </a:p>
        </p:txBody>
      </p:sp>
      <p:sp>
        <p:nvSpPr>
          <p:cNvPr id="14" name="Shape 11"/>
          <p:cNvSpPr/>
          <p:nvPr/>
        </p:nvSpPr>
        <p:spPr>
          <a:xfrm>
            <a:off x="714375" y="3516846"/>
            <a:ext cx="114300" cy="28575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15" name="Text 12"/>
          <p:cNvSpPr/>
          <p:nvPr/>
        </p:nvSpPr>
        <p:spPr>
          <a:xfrm>
            <a:off x="1057275" y="3431121"/>
            <a:ext cx="687586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8F9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Phase 3</a:t>
            </a:r>
            <a:endParaRPr lang="en-US" sz="1397" dirty="0"/>
          </a:p>
        </p:txBody>
      </p:sp>
      <p:sp>
        <p:nvSpPr>
          <p:cNvPr id="16" name="Shape 13"/>
          <p:cNvSpPr/>
          <p:nvPr/>
        </p:nvSpPr>
        <p:spPr>
          <a:xfrm>
            <a:off x="1859161" y="3467733"/>
            <a:ext cx="816173" cy="192881"/>
          </a:xfrm>
          <a:prstGeom prst="rect">
            <a:avLst/>
          </a:prstGeom>
          <a:solidFill>
            <a:srgbClr val="8D99AE">
              <a:alpha val="10000"/>
            </a:srgbClr>
          </a:solidFill>
          <a:ln w="9144">
            <a:solidFill>
              <a:srgbClr val="8D99A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859161" y="3467733"/>
            <a:ext cx="816173" cy="192881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PROPOSED</a:t>
            </a:r>
            <a:endParaRPr lang="en-US" sz="683" dirty="0"/>
          </a:p>
        </p:txBody>
      </p:sp>
      <p:sp>
        <p:nvSpPr>
          <p:cNvPr id="18" name="Text 15"/>
          <p:cNvSpPr/>
          <p:nvPr/>
        </p:nvSpPr>
        <p:spPr>
          <a:xfrm>
            <a:off x="1057275" y="3754375"/>
            <a:ext cx="420479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 launch as a managed API service with tiered pricing based on task complexity and verification requirements.</a:t>
            </a:r>
            <a:endParaRPr lang="en-US" sz="942" dirty="0"/>
          </a:p>
        </p:txBody>
      </p:sp>
      <p:sp>
        <p:nvSpPr>
          <p:cNvPr id="19" name="Shape 16"/>
          <p:cNvSpPr/>
          <p:nvPr/>
        </p:nvSpPr>
        <p:spPr>
          <a:xfrm>
            <a:off x="714375" y="4311588"/>
            <a:ext cx="114300" cy="28575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20" name="Text 17"/>
          <p:cNvSpPr/>
          <p:nvPr/>
        </p:nvSpPr>
        <p:spPr>
          <a:xfrm>
            <a:off x="1057275" y="4225863"/>
            <a:ext cx="691158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8F9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Phase 4</a:t>
            </a:r>
            <a:endParaRPr lang="en-US" sz="1397" dirty="0"/>
          </a:p>
        </p:txBody>
      </p:sp>
      <p:sp>
        <p:nvSpPr>
          <p:cNvPr id="21" name="Shape 18"/>
          <p:cNvSpPr/>
          <p:nvPr/>
        </p:nvSpPr>
        <p:spPr>
          <a:xfrm>
            <a:off x="1862733" y="4262475"/>
            <a:ext cx="816173" cy="192881"/>
          </a:xfrm>
          <a:prstGeom prst="rect">
            <a:avLst/>
          </a:prstGeom>
          <a:solidFill>
            <a:srgbClr val="8D99AE">
              <a:alpha val="10000"/>
            </a:srgbClr>
          </a:solidFill>
          <a:ln w="9144">
            <a:solidFill>
              <a:srgbClr val="8D99A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862733" y="4262475"/>
            <a:ext cx="816173" cy="192881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PROPOSED</a:t>
            </a:r>
            <a:endParaRPr lang="en-US" sz="683" dirty="0"/>
          </a:p>
        </p:txBody>
      </p:sp>
      <p:sp>
        <p:nvSpPr>
          <p:cNvPr id="23" name="Text 20"/>
          <p:cNvSpPr/>
          <p:nvPr/>
        </p:nvSpPr>
        <p:spPr>
          <a:xfrm>
            <a:off x="1057275" y="4549118"/>
            <a:ext cx="420479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 partnerships with major LLM providers (OpenAI, Anthropic, Google) and enterprise platforms (Salesforce, SAP).</a:t>
            </a:r>
            <a:endParaRPr lang="en-US" sz="942" dirty="0"/>
          </a:p>
        </p:txBody>
      </p:sp>
      <p:sp>
        <p:nvSpPr>
          <p:cNvPr id="24" name="Shape 21"/>
          <p:cNvSpPr/>
          <p:nvPr/>
        </p:nvSpPr>
        <p:spPr>
          <a:xfrm>
            <a:off x="6115050" y="1648755"/>
            <a:ext cx="2314575" cy="1550194"/>
          </a:xfrm>
          <a:prstGeom prst="rect">
            <a:avLst/>
          </a:prstGeom>
          <a:solidFill>
            <a:srgbClr val="8D99AE">
              <a:alpha val="5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6115050" y="1648755"/>
            <a:ext cx="2314575" cy="28575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26" name="Text 23"/>
          <p:cNvSpPr/>
          <p:nvPr/>
        </p:nvSpPr>
        <p:spPr>
          <a:xfrm>
            <a:off x="6257925" y="1820205"/>
            <a:ext cx="2028825" cy="11787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roadmap is realistic </a:t>
            </a:r>
            <a:pPr algn="l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achievable. VERA is </a:t>
            </a:r>
            <a:pPr algn="l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ready to move from </a:t>
            </a:r>
            <a:pPr algn="l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D904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to </a:t>
            </a:r>
            <a:pPr algn="l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D904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commercialization</a:t>
            </a:r>
            <a:pPr algn="l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9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571500"/>
            <a:ext cx="7143750" cy="72006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8F9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VERA Is Patent-Ready with WIPO Documentation Complete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714375" y="1548743"/>
            <a:ext cx="4080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comprehensive WIPO PCT Patent Application has been 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drafted, covering the core innovation: </a:t>
            </a:r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segmented neuro-</a:t>
            </a:r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symbolic routing and verification of LLM prompts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714375" y="2348843"/>
            <a:ext cx="4080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IP is defensible and novel. No existing patent or product directly addresses the combination of DAG-based segmentation, dynamic routing, and real-time verification.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714375" y="3263243"/>
            <a:ext cx="4080504" cy="945766"/>
          </a:xfrm>
          <a:prstGeom prst="rect">
            <a:avLst/>
          </a:prstGeom>
          <a:solidFill>
            <a:srgbClr val="D90429">
              <a:alpha val="5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714375" y="3263243"/>
            <a:ext cx="28575" cy="945766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8" name="Text 5"/>
          <p:cNvSpPr/>
          <p:nvPr/>
        </p:nvSpPr>
        <p:spPr>
          <a:xfrm>
            <a:off x="885825" y="3406118"/>
            <a:ext cx="3737604" cy="660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VERA represents a genuine innovation in AI reliability engineering, providing a clear path to commercial protection.</a:t>
            </a:r>
            <a:endParaRPr lang="en-US" sz="109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2092" y="1572853"/>
            <a:ext cx="228600" cy="2000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66417" y="1548743"/>
            <a:ext cx="1959173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F8F9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WIPO PCT Application</a:t>
            </a:r>
            <a:endParaRPr lang="en-US" sz="1295" dirty="0"/>
          </a:p>
        </p:txBody>
      </p:sp>
      <p:sp>
        <p:nvSpPr>
          <p:cNvPr id="11" name="Text 7"/>
          <p:cNvSpPr/>
          <p:nvPr/>
        </p:nvSpPr>
        <p:spPr>
          <a:xfrm>
            <a:off x="5352092" y="1854138"/>
            <a:ext cx="3077533" cy="578644"/>
          </a:xfrm>
          <a:prstGeom prst="rect">
            <a:avLst/>
          </a:prstGeom>
          <a:noFill/>
          <a:ln/>
        </p:spPr>
        <p:txBody>
          <a:bodyPr wrap="square" lIns="408178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Fully drafted application ready for international filing, establishing priority for the core architecture.</a:t>
            </a:r>
            <a:endParaRPr lang="en-US" sz="942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2092" y="2628342"/>
            <a:ext cx="228600" cy="20002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666417" y="2604232"/>
            <a:ext cx="1646634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F8F9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Core Patent Claims</a:t>
            </a:r>
            <a:endParaRPr lang="en-US" sz="1295" dirty="0"/>
          </a:p>
        </p:txBody>
      </p:sp>
      <p:sp>
        <p:nvSpPr>
          <p:cNvPr id="14" name="Text 9"/>
          <p:cNvSpPr/>
          <p:nvPr/>
        </p:nvSpPr>
        <p:spPr>
          <a:xfrm>
            <a:off x="5694992" y="2966777"/>
            <a:ext cx="2734633" cy="182863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Architecture &amp; DAG Segmentation</a:t>
            </a:r>
            <a:endParaRPr lang="en-US" sz="834" dirty="0"/>
          </a:p>
        </p:txBody>
      </p:sp>
      <p:sp>
        <p:nvSpPr>
          <p:cNvPr id="15" name="Text 10"/>
          <p:cNvSpPr/>
          <p:nvPr/>
        </p:nvSpPr>
        <p:spPr>
          <a:xfrm>
            <a:off x="5694992" y="3149640"/>
            <a:ext cx="2734633" cy="182863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Dynamic Routing Algorithm</a:t>
            </a:r>
            <a:endParaRPr lang="en-US" sz="834" dirty="0"/>
          </a:p>
        </p:txBody>
      </p:sp>
      <p:sp>
        <p:nvSpPr>
          <p:cNvPr id="16" name="Text 11"/>
          <p:cNvSpPr/>
          <p:nvPr/>
        </p:nvSpPr>
        <p:spPr>
          <a:xfrm>
            <a:off x="5694992" y="3332504"/>
            <a:ext cx="2734633" cy="182863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Deterministic Execution Sandbox</a:t>
            </a:r>
            <a:endParaRPr lang="en-US" sz="834" dirty="0"/>
          </a:p>
        </p:txBody>
      </p:sp>
      <p:sp>
        <p:nvSpPr>
          <p:cNvPr id="17" name="Text 12"/>
          <p:cNvSpPr/>
          <p:nvPr/>
        </p:nvSpPr>
        <p:spPr>
          <a:xfrm>
            <a:off x="5694992" y="3515367"/>
            <a:ext cx="2734633" cy="182863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Arbitration &amp; Retry Mechanism</a:t>
            </a:r>
            <a:endParaRPr lang="en-US" sz="834" dirty="0"/>
          </a:p>
        </p:txBody>
      </p:sp>
      <p:sp>
        <p:nvSpPr>
          <p:cNvPr id="18" name="Text 13"/>
          <p:cNvSpPr/>
          <p:nvPr/>
        </p:nvSpPr>
        <p:spPr>
          <a:xfrm>
            <a:off x="5694992" y="2966777"/>
            <a:ext cx="64294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D904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34" dirty="0"/>
          </a:p>
        </p:txBody>
      </p:sp>
      <p:sp>
        <p:nvSpPr>
          <p:cNvPr id="19" name="Text 14"/>
          <p:cNvSpPr/>
          <p:nvPr/>
        </p:nvSpPr>
        <p:spPr>
          <a:xfrm>
            <a:off x="5694992" y="3149640"/>
            <a:ext cx="64294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D904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34" dirty="0"/>
          </a:p>
        </p:txBody>
      </p:sp>
      <p:sp>
        <p:nvSpPr>
          <p:cNvPr id="20" name="Text 15"/>
          <p:cNvSpPr/>
          <p:nvPr/>
        </p:nvSpPr>
        <p:spPr>
          <a:xfrm>
            <a:off x="5694992" y="3332504"/>
            <a:ext cx="64294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D904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34" dirty="0"/>
          </a:p>
        </p:txBody>
      </p:sp>
      <p:sp>
        <p:nvSpPr>
          <p:cNvPr id="21" name="Text 16"/>
          <p:cNvSpPr/>
          <p:nvPr/>
        </p:nvSpPr>
        <p:spPr>
          <a:xfrm>
            <a:off x="5694992" y="3515367"/>
            <a:ext cx="64294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D904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34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2092" y="3893790"/>
            <a:ext cx="228600" cy="20002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666417" y="3869680"/>
            <a:ext cx="1785938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F8F9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Invention Disclosure</a:t>
            </a:r>
            <a:endParaRPr lang="en-US" sz="1295" dirty="0"/>
          </a:p>
        </p:txBody>
      </p:sp>
      <p:sp>
        <p:nvSpPr>
          <p:cNvPr id="24" name="Text 18"/>
          <p:cNvSpPr/>
          <p:nvPr/>
        </p:nvSpPr>
        <p:spPr>
          <a:xfrm>
            <a:off x="5352092" y="4175075"/>
            <a:ext cx="3077533" cy="578644"/>
          </a:xfrm>
          <a:prstGeom prst="rect">
            <a:avLst/>
          </a:prstGeom>
          <a:noFill/>
          <a:ln/>
        </p:spPr>
        <p:txBody>
          <a:bodyPr wrap="square" lIns="408178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Formal documentation completed, detailing the problem, solution, novelty, and commercial advantages.</a:t>
            </a:r>
            <a:endParaRPr lang="en-US" sz="942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571500"/>
            <a:ext cx="7143750" cy="72006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8F9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VERA Transforms LLMs from Experimental Tools into Production-Ready Systems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714375" y="1720193"/>
            <a:ext cx="40076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Large Language Models are powerful but inherently 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unreliable. VERA solves this by </a:t>
            </a:r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decoupling neural and </a:t>
            </a:r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symbolic processing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routing tasks to specialized 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engines.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714375" y="2863193"/>
            <a:ext cx="40076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mathematical proof, working prototype, and patent 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documentation demonstrate that VERA is </a:t>
            </a:r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technically </a:t>
            </a:r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feasible, commercially viable, and ready for development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14375" y="3777593"/>
            <a:ext cx="40076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VERA is particularly aligned with Dr. Rami Shaheen's expertise in AI-driven defense systems, where reliability and factual accuracy are paramount and the cost of hallucination is prohibitive.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150644" y="1931659"/>
            <a:ext cx="3278981" cy="3000347"/>
          </a:xfrm>
          <a:prstGeom prst="rect">
            <a:avLst/>
          </a:prstGeom>
          <a:solidFill>
            <a:srgbClr val="D90429">
              <a:alpha val="5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150644" y="1931659"/>
            <a:ext cx="57150" cy="3000347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9" name="Text 6"/>
          <p:cNvSpPr/>
          <p:nvPr/>
        </p:nvSpPr>
        <p:spPr>
          <a:xfrm>
            <a:off x="5379244" y="2217409"/>
            <a:ext cx="2821781" cy="1400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F8F9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invention provides the missing verification layer that transforms LLMs into trustworthy components of critical infrastructure.</a:t>
            </a:r>
            <a:endParaRPr lang="en-US" sz="1397" dirty="0"/>
          </a:p>
        </p:txBody>
      </p:sp>
      <p:sp>
        <p:nvSpPr>
          <p:cNvPr id="10" name="Text 7"/>
          <p:cNvSpPr/>
          <p:nvPr/>
        </p:nvSpPr>
        <p:spPr>
          <a:xfrm>
            <a:off x="5379244" y="3789006"/>
            <a:ext cx="2821781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spc="1" kern="0" dirty="0">
                <a:solidFill>
                  <a:srgbClr val="D904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MARKET OPPORTUNITY IS </a:t>
            </a:r>
            <a:pPr algn="l" indent="0" marL="0">
              <a:lnSpc>
                <a:spcPts val="1700"/>
              </a:lnSpc>
              <a:buNone/>
            </a:pPr>
            <a:r>
              <a:rPr lang="en-US" sz="987" b="1" spc="1" kern="0" dirty="0">
                <a:solidFill>
                  <a:srgbClr val="D904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ENORMOUS.</a:t>
            </a:r>
            <a:pPr algn="l" indent="0" marL="0">
              <a:lnSpc>
                <a:spcPts val="1700"/>
              </a:lnSpc>
              <a:buNone/>
            </a:pPr>
            <a:r>
              <a:rPr lang="en-US" sz="987" b="1" spc="1" kern="0" dirty="0">
                <a:solidFill>
                  <a:srgbClr val="D904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l" indent="0" marL="0">
              <a:lnSpc>
                <a:spcPts val="1700"/>
              </a:lnSpc>
              <a:buNone/>
            </a:pPr>
            <a:r>
              <a:rPr lang="en-US" sz="987" b="1" spc="1" kern="0" dirty="0">
                <a:solidFill>
                  <a:srgbClr val="D904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TECHNOLOGY IS READY.</a:t>
            </a:r>
            <a:pPr algn="l" indent="0" marL="0">
              <a:lnSpc>
                <a:spcPts val="1700"/>
              </a:lnSpc>
              <a:buNone/>
            </a:pPr>
            <a:r>
              <a:rPr lang="en-US" sz="987" b="1" spc="1" kern="0" dirty="0">
                <a:solidFill>
                  <a:srgbClr val="D904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l" indent="0" marL="0">
              <a:lnSpc>
                <a:spcPts val="1700"/>
              </a:lnSpc>
              <a:buNone/>
            </a:pPr>
            <a:r>
              <a:rPr lang="en-US" sz="987" b="1" spc="1" kern="0" dirty="0">
                <a:solidFill>
                  <a:srgbClr val="D904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TIME IS NOW.</a:t>
            </a:r>
            <a:endParaRPr lang="en-US" sz="987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176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714375"/>
            <a:ext cx="357187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2" kern="0" dirty="0">
                <a:solidFill>
                  <a:srgbClr val="D904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</a:t>
            </a:r>
            <a:endParaRPr lang="en-US" sz="987" dirty="0"/>
          </a:p>
        </p:txBody>
      </p:sp>
      <p:sp>
        <p:nvSpPr>
          <p:cNvPr id="4" name="Text 1"/>
          <p:cNvSpPr/>
          <p:nvPr/>
        </p:nvSpPr>
        <p:spPr>
          <a:xfrm>
            <a:off x="714375" y="1001911"/>
            <a:ext cx="3571875" cy="880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62" b="1" dirty="0">
                <a:solidFill>
                  <a:srgbClr val="F8F9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VERA: The Future of Reliable AI</a:t>
            </a:r>
            <a:endParaRPr lang="en-US" sz="2862" dirty="0"/>
          </a:p>
        </p:txBody>
      </p:sp>
      <p:sp>
        <p:nvSpPr>
          <p:cNvPr id="5" name="Text 2"/>
          <p:cNvSpPr/>
          <p:nvPr/>
        </p:nvSpPr>
        <p:spPr>
          <a:xfrm>
            <a:off x="942975" y="2167737"/>
            <a:ext cx="334327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8F9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Dr. Rami Shaheen</a:t>
            </a:r>
            <a:endParaRPr lang="en-US" sz="1808" dirty="0"/>
          </a:p>
        </p:txBody>
      </p:sp>
      <p:sp>
        <p:nvSpPr>
          <p:cNvPr id="6" name="Text 3"/>
          <p:cNvSpPr/>
          <p:nvPr/>
        </p:nvSpPr>
        <p:spPr>
          <a:xfrm>
            <a:off x="942975" y="2596362"/>
            <a:ext cx="3343275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International AI Driving License Expert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Maturity Assessor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Defense AI Systems Architect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Secretary General of the Global AI Award</a:t>
            </a:r>
            <a:endParaRPr lang="en-US" sz="942" dirty="0"/>
          </a:p>
        </p:txBody>
      </p:sp>
      <p:sp>
        <p:nvSpPr>
          <p:cNvPr id="7" name="Shape 4"/>
          <p:cNvSpPr/>
          <p:nvPr/>
        </p:nvSpPr>
        <p:spPr>
          <a:xfrm>
            <a:off x="714375" y="3704983"/>
            <a:ext cx="3571875" cy="1084064"/>
          </a:xfrm>
          <a:prstGeom prst="rect">
            <a:avLst/>
          </a:prstGeom>
          <a:solidFill>
            <a:srgbClr val="D90429">
              <a:alpha val="5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714375" y="3704983"/>
            <a:ext cx="3571875" cy="14288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9" name="Text 6"/>
          <p:cNvSpPr/>
          <p:nvPr/>
        </p:nvSpPr>
        <p:spPr>
          <a:xfrm>
            <a:off x="885825" y="3876433"/>
            <a:ext cx="32289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Steps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885825" y="4088960"/>
            <a:ext cx="322897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Interested in VERA? Let's discuss commercialization, strategic partnerships, and enterprise deployment strategies.</a:t>
            </a:r>
            <a:endParaRPr lang="en-US" sz="834" dirty="0"/>
          </a:p>
        </p:txBody>
      </p:sp>
      <p:sp>
        <p:nvSpPr>
          <p:cNvPr id="11" name="Shape 8"/>
          <p:cNvSpPr/>
          <p:nvPr/>
        </p:nvSpPr>
        <p:spPr>
          <a:xfrm>
            <a:off x="4572000" y="714375"/>
            <a:ext cx="3857625" cy="448901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572000" y="714375"/>
            <a:ext cx="7144" cy="4489010"/>
          </a:xfrm>
          <a:prstGeom prst="rect">
            <a:avLst/>
          </a:prstGeom>
          <a:solidFill>
            <a:srgbClr val="E8EBEF"/>
          </a:solidFill>
          <a:ln/>
        </p:spPr>
      </p:sp>
      <p:sp>
        <p:nvSpPr>
          <p:cNvPr id="13" name="Text 10"/>
          <p:cNvSpPr/>
          <p:nvPr/>
        </p:nvSpPr>
        <p:spPr>
          <a:xfrm>
            <a:off x="5000625" y="714375"/>
            <a:ext cx="3429000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8F9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Key Achievements &amp; Expertise</a:t>
            </a:r>
            <a:endParaRPr lang="en-US" sz="1397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625" y="1237655"/>
            <a:ext cx="142875" cy="14287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209080"/>
            <a:ext cx="31718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Dubai Police &amp; Ministry of Defense</a:t>
            </a:r>
            <a:endParaRPr lang="en-US" sz="885" dirty="0"/>
          </a:p>
        </p:txBody>
      </p:sp>
      <p:sp>
        <p:nvSpPr>
          <p:cNvPr id="16" name="Text 12"/>
          <p:cNvSpPr/>
          <p:nvPr/>
        </p:nvSpPr>
        <p:spPr>
          <a:xfrm>
            <a:off x="5257800" y="1393031"/>
            <a:ext cx="31718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Developed OS for lean strategy using AI; trained defense ministries on building competitive AI solutions.</a:t>
            </a:r>
            <a:endParaRPr lang="en-US" sz="834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625" y="1935956"/>
            <a:ext cx="160734" cy="14287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275659" y="1907381"/>
            <a:ext cx="315396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Oman Naval Defense</a:t>
            </a:r>
            <a:endParaRPr lang="en-US" sz="885" dirty="0"/>
          </a:p>
        </p:txBody>
      </p:sp>
      <p:sp>
        <p:nvSpPr>
          <p:cNvPr id="19" name="Text 14"/>
          <p:cNvSpPr/>
          <p:nvPr/>
        </p:nvSpPr>
        <p:spPr>
          <a:xfrm>
            <a:off x="5275659" y="2091333"/>
            <a:ext cx="31539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Architected and built an AI-driven naval defense system in Muscat.</a:t>
            </a:r>
            <a:endParaRPr lang="en-US" sz="834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625" y="2634258"/>
            <a:ext cx="160734" cy="14287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275659" y="2605683"/>
            <a:ext cx="315396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Falcon Eye Abu Dhabi</a:t>
            </a:r>
            <a:endParaRPr lang="en-US" sz="885" dirty="0"/>
          </a:p>
        </p:txBody>
      </p:sp>
      <p:sp>
        <p:nvSpPr>
          <p:cNvPr id="22" name="Text 16"/>
          <p:cNvSpPr/>
          <p:nvPr/>
        </p:nvSpPr>
        <p:spPr>
          <a:xfrm>
            <a:off x="5275659" y="2789634"/>
            <a:ext cx="31539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Managed infrastructure solutions and cyberimmunity standardization against high-level attacks.</a:t>
            </a:r>
            <a:endParaRPr lang="en-US" sz="834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0625" y="3332559"/>
            <a:ext cx="142875" cy="14287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257800" y="3303984"/>
            <a:ext cx="31718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Certifications</a:t>
            </a:r>
            <a:endParaRPr lang="en-US" sz="885" dirty="0"/>
          </a:p>
        </p:txBody>
      </p:sp>
      <p:sp>
        <p:nvSpPr>
          <p:cNvPr id="25" name="Text 18"/>
          <p:cNvSpPr/>
          <p:nvPr/>
        </p:nvSpPr>
        <p:spPr>
          <a:xfrm>
            <a:off x="5257800" y="3487936"/>
            <a:ext cx="31718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ED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Certified by Harvard, MIT, and Silicon Valley Innovation Center in Digital and Intelligence Transformation.</a:t>
            </a:r>
            <a:endParaRPr lang="en-US" sz="83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2026-03-23T04:44:01Z</dcterms:created>
  <dcterms:modified xsi:type="dcterms:W3CDTF">2026-03-23T04:44:01Z</dcterms:modified>
</cp:coreProperties>
</file>